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60" r:id="rId4"/>
    <p:sldId id="273" r:id="rId5"/>
    <p:sldId id="280" r:id="rId6"/>
    <p:sldId id="264" r:id="rId7"/>
    <p:sldId id="278" r:id="rId8"/>
    <p:sldId id="263" r:id="rId9"/>
    <p:sldId id="265" r:id="rId10"/>
    <p:sldId id="266" r:id="rId11"/>
    <p:sldId id="268" r:id="rId12"/>
    <p:sldId id="269" r:id="rId13"/>
    <p:sldId id="270" r:id="rId14"/>
    <p:sldId id="275" r:id="rId15"/>
    <p:sldId id="271" r:id="rId16"/>
    <p:sldId id="272" r:id="rId17"/>
    <p:sldId id="274" r:id="rId18"/>
    <p:sldId id="276" r:id="rId19"/>
    <p:sldId id="279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80" d="100"/>
          <a:sy n="80" d="100"/>
        </p:scale>
        <p:origin x="61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032A8-63F4-4AB9-A659-7DAF0F0FD09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0957DE-D632-427D-8077-0E45C14772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48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0957DE-D632-427D-8077-0E45C147724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470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11D9BC-F530-E474-3E81-4DFB37F994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A5BE9EA-1FB2-CBBF-D7B5-F835AEE08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66984F-CD65-4823-C51E-E25776DAF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3F8A-E6D1-4CC5-AEA5-B55CE21E84D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FD93E2-3127-0B48-029D-B48F7F2AF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04408E-675C-D57A-FA59-7095DBE77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7CB1-3867-4CEB-A98B-51F825A92F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471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4A51A-570E-EC0B-2557-776035A38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056048-FDF2-54E0-A050-3EF7BB07D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7A33B0-E1BE-B81B-8B37-1E6B60D5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3F8A-E6D1-4CC5-AEA5-B55CE21E84D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63023C-BD34-8A15-474C-A78BA7373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1994B5-6342-F72B-B304-0E19C113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7CB1-3867-4CEB-A98B-51F825A92F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2565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E3931A-75A8-8534-9E74-D115CE4D3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849566-ECF9-08C6-D835-46141E1B5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32692F-CDB6-E4AF-3330-B38D3BC2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3F8A-E6D1-4CC5-AEA5-B55CE21E84D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BF0451-7807-5503-CC26-5FC9BA29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1436F8-973C-746A-E2FD-7D3933439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7CB1-3867-4CEB-A98B-51F825A92F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557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8F2A6-7A03-25F8-CA2B-15842CA3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4515C8-C5AA-BD49-AB89-B8BA33AC5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A65624-D47A-4AFC-3A92-83E715E91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419BAB-9FBF-E4B8-38A4-9F102711A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3F8A-E6D1-4CC5-AEA5-B55CE21E84D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6522BA-4BCE-5C12-1C9A-364CC904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A02FB1-88FA-782A-62C5-C091CB80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7CB1-3867-4CEB-A98B-51F825A92F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412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CD59F1-CBBA-E2A6-D63A-1B2071BC3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BF5810-BA78-A102-E87C-1142A5DEB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E6A39A-9383-176F-8C22-30D86B736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6DD955B-9068-48BC-E2ED-411C4050A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95868A6-3DB0-F2AF-5A49-839A612FDD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0EE1C52-9407-CCC5-4A80-87C3774D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3F8A-E6D1-4CC5-AEA5-B55CE21E84D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4D95B6F-9E70-9466-B402-FDD54EB01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DE6BB10-1835-0438-E1F9-619BA5B1E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7CB1-3867-4CEB-A98B-51F825A92F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435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F2789-0C11-DE5E-DDC5-EE551A7AD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E6BA557-53E9-9969-5008-D98CD9328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3F8A-E6D1-4CC5-AEA5-B55CE21E84D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F4322B9-1179-AA33-85BA-03FC003FB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DD8233-6D75-BC78-6460-EF38EEAE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7CB1-3867-4CEB-A98B-51F825A92F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06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E9BED8C-AE4C-5979-446B-21D6E4223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3F8A-E6D1-4CC5-AEA5-B55CE21E84D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BE747ED-2E92-C773-31CE-099B58DD8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EAE5A8-DFDC-0458-30A2-C098EDAA2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7CB1-3867-4CEB-A98B-51F825A92F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3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3FB6BD-2F7C-7AE1-FD05-56A39B0DD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4084A4-A8ED-5657-4F8B-9713FABC4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190E2A-6800-F0E8-6203-27E43DC55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30FC21-F665-B596-45A1-CEBB16E21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3F8A-E6D1-4CC5-AEA5-B55CE21E84D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DD15A3-65BF-D36D-93D3-94497FA28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0934E48-7372-B704-8731-AECBA59DD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7CB1-3867-4CEB-A98B-51F825A92F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424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F3CDB8-90A2-242B-7D52-ED2958841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EF8A426-CDBE-724C-677F-E13D88D07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F93B9D-D349-D000-8E89-A42489CC8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A333EA-8116-AA4A-A810-BDD9D089C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3F8A-E6D1-4CC5-AEA5-B55CE21E84D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2C28AA-C35F-0D48-28E2-3191D3393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588EF3-0BE1-6E55-7B38-535FB5FA8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7CB1-3867-4CEB-A98B-51F825A92F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853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0CD85-0BCA-7A1E-498A-5BFD55F11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BD869D-99BE-C074-048E-3589881F1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DC3E35-0071-5DC7-58B3-1FB927FE2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3F8A-E6D1-4CC5-AEA5-B55CE21E84D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68AF57-27E8-F101-92D8-BA72535A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011FAC-4C4A-A50A-6EAF-BA42F9B35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7CB1-3867-4CEB-A98B-51F825A92F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4913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8FE84AF-5902-0445-7DC3-ADCC52C01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74EC606-B968-8431-307B-0AB51FAA5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CF0B20-F3CE-74B9-A883-91937FD5C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D3F8A-E6D1-4CC5-AEA5-B55CE21E84D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A7A2B3-135F-85CF-953D-3496A857B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ADC749-C236-FA60-08EF-0B4A698F3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7CB1-3867-4CEB-A98B-51F825A92F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8292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4AD27B-E4CC-3913-D6F4-8B3776A2F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FF0C92-4ACF-DAEF-DDB2-6077776F5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F64427-70DD-E4B9-E0F9-6F9EDC0CD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D3F8A-E6D1-4CC5-AEA5-B55CE21E84DD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79F240-266B-E7F6-39CB-A90B49701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5044E3-6E34-0419-6544-7B95B8BC3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7CB1-3867-4CEB-A98B-51F825A92F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661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5 key reasons why data analytics is important to business | Penn LPS Online">
            <a:extLst>
              <a:ext uri="{FF2B5EF4-FFF2-40B4-BE49-F238E27FC236}">
                <a16:creationId xmlns:a16="http://schemas.microsoft.com/office/drawing/2014/main" id="{B09412F5-883D-2238-AA6D-899F3726A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D72120-5E4A-5B7E-58A7-1782CF4265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>
                <a:latin typeface="+mn-lt"/>
              </a:rPr>
              <a:t>Olist</a:t>
            </a:r>
            <a:r>
              <a:rPr lang="en-US" b="1" dirty="0">
                <a:latin typeface="+mn-lt"/>
              </a:rPr>
              <a:t> Marketplace Analysis: Revenue, Logistics &amp; Growth Drivers</a:t>
            </a:r>
            <a:endParaRPr lang="ru-RU" dirty="0">
              <a:latin typeface="+mn-lt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EC09D0-D80B-C4C7-F7B7-E09DA6A76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961618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A data-driven analysis of customer behavior, geography, and marketplace structure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by </a:t>
            </a:r>
            <a:r>
              <a:rPr lang="en-US" b="1" dirty="0"/>
              <a:t>Daulet </a:t>
            </a:r>
            <a:r>
              <a:rPr lang="en-US" b="1" dirty="0" err="1"/>
              <a:t>Nassakayev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F6607A-69C1-7753-A243-A1034F1B0A9B}"/>
              </a:ext>
            </a:extLst>
          </p:cNvPr>
          <p:cNvSpPr txBox="1"/>
          <p:nvPr/>
        </p:nvSpPr>
        <p:spPr>
          <a:xfrm>
            <a:off x="3220277" y="6194323"/>
            <a:ext cx="5751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Tools Used: SQL, Python (Pandas, SciPy, </a:t>
            </a:r>
            <a:r>
              <a:rPr lang="en-US" dirty="0" err="1"/>
              <a:t>Pingouin</a:t>
            </a:r>
            <a:r>
              <a:rPr lang="en-US" dirty="0"/>
              <a:t>), Power BI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1409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5 key reasons why data analytics is important to business | Penn LPS Online">
            <a:extLst>
              <a:ext uri="{FF2B5EF4-FFF2-40B4-BE49-F238E27FC236}">
                <a16:creationId xmlns:a16="http://schemas.microsoft.com/office/drawing/2014/main" id="{7D566CAC-B6AC-0CB4-D52E-9CB0B8B7F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832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D83A39-7E7D-6F8C-6ADF-8457826DD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Dataset Snapshot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06FD1F-4810-C45E-9B04-ABD9635AF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5645"/>
            <a:ext cx="6791632" cy="3421397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Dataset from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Olist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, a leading Brazilian       e-commerce marketplace</a:t>
            </a:r>
          </a:p>
          <a:p>
            <a:r>
              <a:rPr lang="en-US" dirty="0"/>
              <a:t>Public dataset of real e-commerce transactions</a:t>
            </a:r>
          </a:p>
          <a:p>
            <a:r>
              <a:rPr lang="en-US" dirty="0"/>
              <a:t>Covers period: Sep 2016 - Oct 2018</a:t>
            </a:r>
          </a:p>
          <a:p>
            <a:r>
              <a:rPr lang="en-US" dirty="0"/>
              <a:t>Order- and item-level data</a:t>
            </a:r>
          </a:p>
          <a:p>
            <a:r>
              <a:rPr lang="en-US" dirty="0"/>
              <a:t>~100 000 orders</a:t>
            </a:r>
          </a:p>
          <a:p>
            <a:r>
              <a:rPr lang="en-US" dirty="0"/>
              <a:t>SKU count: 32 951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pic>
        <p:nvPicPr>
          <p:cNvPr id="1028" name="Picture 4" descr="Таблица базы данных – Бесплатные иконки: ui">
            <a:extLst>
              <a:ext uri="{FF2B5EF4-FFF2-40B4-BE49-F238E27FC236}">
                <a16:creationId xmlns:a16="http://schemas.microsoft.com/office/drawing/2014/main" id="{21826D80-1636-B862-ACC2-C7014BAAB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491" y="1772264"/>
            <a:ext cx="3313471" cy="3313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393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5 key reasons why data analytics is important to business | Penn LPS Online">
            <a:extLst>
              <a:ext uri="{FF2B5EF4-FFF2-40B4-BE49-F238E27FC236}">
                <a16:creationId xmlns:a16="http://schemas.microsoft.com/office/drawing/2014/main" id="{A86E4969-BCA4-8C36-4F9D-7F73823FE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D0D15-3041-185C-99F5-F972DE46F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Business Objective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7BCB42-2EE4-17CC-A0F4-1CFE0C05F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Identify key drivers of revenue, customer behavior, and operational efficiency to uncover growth opportunities.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Analyze revenue distribution across categories to identify concentration risks</a:t>
            </a:r>
          </a:p>
          <a:p>
            <a:r>
              <a:rPr lang="en-US" dirty="0"/>
              <a:t>Evaluate customer behavior patterns and purchasing dynamics</a:t>
            </a:r>
          </a:p>
          <a:p>
            <a:r>
              <a:rPr lang="en-US" dirty="0"/>
              <a:t>Assess the impact of geography on sales and logistics performance</a:t>
            </a:r>
          </a:p>
          <a:p>
            <a:r>
              <a:rPr lang="en-US" dirty="0"/>
              <a:t>Identify key growth levers across the marketplace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629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7C490-7FD1-FA71-26D6-B502258B2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5 key reasons why data analytics is important to business | Penn LPS Online">
            <a:extLst>
              <a:ext uri="{FF2B5EF4-FFF2-40B4-BE49-F238E27FC236}">
                <a16:creationId xmlns:a16="http://schemas.microsoft.com/office/drawing/2014/main" id="{C53C5039-CADC-AFDE-6943-4A35D32A3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6087B2-D8C3-93B9-0B72-681DBA504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Tools &amp; Methodology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E9A7E1-E27D-4AA2-72BC-9E48C0D9F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• Data processing &amp; analysis: Python (Pandas, NumPy)</a:t>
            </a:r>
            <a:br>
              <a:rPr lang="en-US" dirty="0"/>
            </a:br>
            <a:r>
              <a:rPr lang="en-US" dirty="0"/>
              <a:t> - Visualization: Matplotlib / Seaborn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dirty="0"/>
              <a:t>• Statistical analysis:</a:t>
            </a:r>
            <a:br>
              <a:rPr lang="en-US" dirty="0"/>
            </a:br>
            <a:r>
              <a:rPr lang="en-US" dirty="0"/>
              <a:t>- Hypothesis testing (ANOVA, Kruskal-Wallis) for group differences</a:t>
            </a:r>
            <a:br>
              <a:rPr lang="en-US" dirty="0"/>
            </a:br>
            <a:r>
              <a:rPr lang="en-US" dirty="0"/>
              <a:t>- Regression modeling (OLS) to quantify key relationships</a:t>
            </a:r>
          </a:p>
          <a:p>
            <a:pPr>
              <a:buNone/>
            </a:pPr>
            <a:endParaRPr lang="en-US" sz="800" dirty="0"/>
          </a:p>
          <a:p>
            <a:pPr>
              <a:buNone/>
            </a:pPr>
            <a:r>
              <a:rPr lang="en-US" dirty="0"/>
              <a:t>• Business analysis frameworks:</a:t>
            </a:r>
            <a:br>
              <a:rPr lang="en-US" dirty="0"/>
            </a:br>
            <a:r>
              <a:rPr lang="en-US" dirty="0"/>
              <a:t>- ABC/XYZ segmentation for demand structure</a:t>
            </a:r>
            <a:br>
              <a:rPr lang="en-US" dirty="0"/>
            </a:br>
            <a:r>
              <a:rPr lang="en-US" dirty="0"/>
              <a:t>- Revenue concentration analysis (Pareto principle)</a:t>
            </a:r>
          </a:p>
        </p:txBody>
      </p:sp>
    </p:spTree>
    <p:extLst>
      <p:ext uri="{BB962C8B-B14F-4D97-AF65-F5344CB8AC3E}">
        <p14:creationId xmlns:p14="http://schemas.microsoft.com/office/powerpoint/2010/main" val="243328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25C3B-D4C8-D7A3-39E6-9E64ED012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Marketplace Overview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A60649-4714-364A-EAB4-48BC6B077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39348" cy="4351338"/>
          </a:xfrm>
        </p:spPr>
        <p:txBody>
          <a:bodyPr/>
          <a:lstStyle/>
          <a:p>
            <a:r>
              <a:rPr lang="en-US" dirty="0"/>
              <a:t>Total revenue 13.6M BRL</a:t>
            </a:r>
          </a:p>
          <a:p>
            <a:r>
              <a:rPr lang="en-US" dirty="0"/>
              <a:t>3095 Sellers</a:t>
            </a:r>
          </a:p>
          <a:p>
            <a:r>
              <a:rPr lang="en-US" dirty="0"/>
              <a:t>41.6% of customers located in Sao Paulo</a:t>
            </a:r>
          </a:p>
          <a:p>
            <a:r>
              <a:rPr lang="en-US" dirty="0"/>
              <a:t>No strong seasonal patterns observed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D09211-3C71-7538-F2D2-E84E85F35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413" y="3695110"/>
            <a:ext cx="4857136" cy="279776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38F151-2B16-72D5-EF2A-952872A8B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716" y="809215"/>
            <a:ext cx="2032819" cy="2032819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14D072F-C1F6-FBA8-19B8-5BBE6520BA1A}"/>
              </a:ext>
            </a:extLst>
          </p:cNvPr>
          <p:cNvSpPr/>
          <p:nvPr/>
        </p:nvSpPr>
        <p:spPr>
          <a:xfrm>
            <a:off x="1488359" y="4491370"/>
            <a:ext cx="3864077" cy="1229033"/>
          </a:xfrm>
          <a:prstGeom prst="roundRect">
            <a:avLst/>
          </a:prstGeom>
          <a:solidFill>
            <a:srgbClr val="FF0000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Rapid 7.7x growth in 2017 followed by stabilization in 2018</a:t>
            </a:r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2EC2EF13-8CD1-DBE2-4DD4-159251F40B81}"/>
              </a:ext>
            </a:extLst>
          </p:cNvPr>
          <p:cNvSpPr/>
          <p:nvPr/>
        </p:nvSpPr>
        <p:spPr>
          <a:xfrm>
            <a:off x="5588410" y="4994788"/>
            <a:ext cx="1015180" cy="2064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3515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4A34D-2680-A366-8ADB-4759D8921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D80E0EC-0004-903B-69BB-F0E6D1F0A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730" y="1442210"/>
            <a:ext cx="6329246" cy="44862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6262C4-0F72-1D5F-01D7-1E0C82269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Revenue by Categories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F4F0EB-A7D4-CD61-8F5C-5B7F5E987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90688"/>
            <a:ext cx="3843130" cy="43513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72</a:t>
            </a:r>
            <a:r>
              <a:rPr lang="en-US" dirty="0"/>
              <a:t> product categories in total</a:t>
            </a:r>
          </a:p>
          <a:p>
            <a:endParaRPr lang="en-US" sz="800" dirty="0"/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TOP-13 categories </a:t>
            </a:r>
            <a:r>
              <a:rPr lang="en-US" dirty="0"/>
              <a:t>generate </a:t>
            </a:r>
            <a:r>
              <a:rPr lang="en-US" b="1" dirty="0">
                <a:solidFill>
                  <a:srgbClr val="C00000"/>
                </a:solidFill>
              </a:rPr>
              <a:t>70% </a:t>
            </a:r>
            <a:r>
              <a:rPr lang="en-US" dirty="0"/>
              <a:t>of all revenue</a:t>
            </a: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A48C3B8-5759-F8B7-D06F-D149E3D16DCB}"/>
              </a:ext>
            </a:extLst>
          </p:cNvPr>
          <p:cNvSpPr/>
          <p:nvPr/>
        </p:nvSpPr>
        <p:spPr>
          <a:xfrm>
            <a:off x="1179871" y="4561801"/>
            <a:ext cx="3501460" cy="1366684"/>
          </a:xfrm>
          <a:prstGeom prst="roundRect">
            <a:avLst/>
          </a:prstGeom>
          <a:solidFill>
            <a:srgbClr val="FF0000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Revenue is highly concentrated, indicating limited diversification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323229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BC800-B693-229F-B8E2-81F3D986E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0D4F41-103C-2355-4668-3E71A56A4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Top 5 Sellers’ Revenue Share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989A3A-CA26-A734-4F20-00C7FD32D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085439" cy="4351338"/>
          </a:xfrm>
        </p:spPr>
        <p:txBody>
          <a:bodyPr/>
          <a:lstStyle/>
          <a:p>
            <a:r>
              <a:rPr lang="en-US" dirty="0"/>
              <a:t>Average share of TOP-5 Sellers within categories is </a:t>
            </a:r>
            <a:r>
              <a:rPr lang="en-US" b="1" dirty="0">
                <a:solidFill>
                  <a:srgbClr val="C00000"/>
                </a:solidFill>
              </a:rPr>
              <a:t>67%</a:t>
            </a:r>
          </a:p>
          <a:p>
            <a:r>
              <a:rPr lang="en-US" b="1" dirty="0">
                <a:solidFill>
                  <a:srgbClr val="C00000"/>
                </a:solidFill>
              </a:rPr>
              <a:t>45% </a:t>
            </a:r>
            <a:r>
              <a:rPr lang="en-US" dirty="0"/>
              <a:t>for TOP-25 categories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72F726-740A-B321-20C9-4CFBFDA47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90379"/>
            <a:ext cx="5382376" cy="3286584"/>
          </a:xfrm>
          <a:prstGeom prst="rect">
            <a:avLst/>
          </a:prstGeom>
        </p:spPr>
      </p:pic>
      <p:sp>
        <p:nvSpPr>
          <p:cNvPr id="6" name="Стрелка: пятиугольник 5">
            <a:extLst>
              <a:ext uri="{FF2B5EF4-FFF2-40B4-BE49-F238E27FC236}">
                <a16:creationId xmlns:a16="http://schemas.microsoft.com/office/drawing/2014/main" id="{FA9120BB-6E8A-8029-C10D-C425D7B0B708}"/>
              </a:ext>
            </a:extLst>
          </p:cNvPr>
          <p:cNvSpPr/>
          <p:nvPr/>
        </p:nvSpPr>
        <p:spPr>
          <a:xfrm rot="20915070">
            <a:off x="3386355" y="5223131"/>
            <a:ext cx="2927495" cy="100338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share for “Watches Gifts” Category (2</a:t>
            </a:r>
            <a:r>
              <a:rPr lang="en-US" baseline="30000" dirty="0"/>
              <a:t>nd</a:t>
            </a:r>
            <a:r>
              <a:rPr lang="en-US" dirty="0"/>
              <a:t> by revenue)</a:t>
            </a:r>
            <a:endParaRPr lang="ru-RU" dirty="0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4044BFD-9E0A-9FD1-F30F-E2114BF8288F}"/>
              </a:ext>
            </a:extLst>
          </p:cNvPr>
          <p:cNvSpPr/>
          <p:nvPr/>
        </p:nvSpPr>
        <p:spPr>
          <a:xfrm>
            <a:off x="1455172" y="3260548"/>
            <a:ext cx="3746091" cy="1211672"/>
          </a:xfrm>
          <a:prstGeom prst="roundRect">
            <a:avLst/>
          </a:prstGeom>
          <a:solidFill>
            <a:srgbClr val="FF0000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High seller concentration increases marketplace risk and limits competitive dynamics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39254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687B7-504F-0360-71D4-F998567B1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191EF7-1BAD-E846-497B-5921BD01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Customer Loyalty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DA7DB7-D974-493E-0ACC-75FF6EE32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96 000 unique customers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97% </a:t>
            </a:r>
            <a:r>
              <a:rPr lang="en-US" dirty="0"/>
              <a:t>made only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one </a:t>
            </a:r>
            <a:r>
              <a:rPr lang="en-US" dirty="0"/>
              <a:t>purchase</a:t>
            </a:r>
          </a:p>
          <a:p>
            <a:r>
              <a:rPr lang="en-US" dirty="0"/>
              <a:t>Only </a:t>
            </a:r>
            <a:r>
              <a:rPr lang="en-US" b="1" dirty="0">
                <a:solidFill>
                  <a:srgbClr val="C00000"/>
                </a:solidFill>
              </a:rPr>
              <a:t>3% </a:t>
            </a:r>
            <a:r>
              <a:rPr lang="en-US" dirty="0"/>
              <a:t>placed </a:t>
            </a:r>
            <a:r>
              <a:rPr lang="en-US" b="1" dirty="0">
                <a:solidFill>
                  <a:srgbClr val="C00000"/>
                </a:solidFill>
              </a:rPr>
              <a:t>repeat orders</a:t>
            </a:r>
            <a:endParaRPr lang="ru-RU" b="1" dirty="0">
              <a:solidFill>
                <a:srgbClr val="C00000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15FBA6-4732-0764-40B2-88FDE6C23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5811061" cy="4277322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6E62763-FC0C-DFD9-9761-5E58DE43FADF}"/>
              </a:ext>
            </a:extLst>
          </p:cNvPr>
          <p:cNvSpPr/>
          <p:nvPr/>
        </p:nvSpPr>
        <p:spPr>
          <a:xfrm>
            <a:off x="1602658" y="3972232"/>
            <a:ext cx="2644877" cy="1376516"/>
          </a:xfrm>
          <a:prstGeom prst="roundRect">
            <a:avLst/>
          </a:prstGeom>
          <a:solidFill>
            <a:srgbClr val="FF0000"/>
          </a:solidFill>
          <a:effectLst>
            <a:reflection blurRad="6350" stA="50000" endA="300" endPos="5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Extremely low repeat purchase rate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801243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876D3-A81C-F17C-DCA8-EAD24DA3B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C8FD46-22C5-E031-3F2C-66825855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AOV by Payment Type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1516CB-31B9-9189-F7DA-F162BA09C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4736690" cy="435133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Credit cards </a:t>
            </a:r>
            <a:r>
              <a:rPr lang="en-US" sz="3200" dirty="0"/>
              <a:t>yield the 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highest</a:t>
            </a:r>
            <a:r>
              <a:rPr lang="en-US" sz="3200" dirty="0"/>
              <a:t> AOV</a:t>
            </a:r>
          </a:p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Vouchers</a:t>
            </a:r>
            <a:r>
              <a:rPr lang="en-US" sz="3200" dirty="0"/>
              <a:t> have the </a:t>
            </a:r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lowest</a:t>
            </a:r>
            <a:r>
              <a:rPr lang="en-US" sz="3200" dirty="0"/>
              <a:t> AOV</a:t>
            </a:r>
          </a:p>
          <a:p>
            <a:r>
              <a:rPr lang="en-US" sz="3200" dirty="0"/>
              <a:t>Differences are </a:t>
            </a:r>
            <a:r>
              <a:rPr lang="en-US" sz="3200" dirty="0">
                <a:solidFill>
                  <a:srgbClr val="C00000"/>
                </a:solidFill>
              </a:rPr>
              <a:t>statistically significant    </a:t>
            </a:r>
            <a:r>
              <a:rPr lang="en-US" sz="3200" dirty="0"/>
              <a:t>(H = 724, p &lt; 0.001)</a:t>
            </a:r>
            <a:endParaRPr lang="ru-RU" sz="3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F1BA73-BF62-5346-6B7C-5E2EEF72B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464" y="2271252"/>
            <a:ext cx="5190820" cy="339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910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92C96-FEC3-F8F3-CA40-ECF8605EE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291793-8273-5638-AE4C-02CC05981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Installments as a Growth Lever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2975E8-32F8-024E-F409-C86D193D0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57791" cy="125187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AOV increases with the number of installments</a:t>
            </a:r>
          </a:p>
          <a:p>
            <a:r>
              <a:rPr lang="en-US" dirty="0"/>
              <a:t>Higher-priced items are more frequently purchased with installment plans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4A07065-9995-2430-FBA5-5626CA1DA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974" y="3498544"/>
            <a:ext cx="4297017" cy="290129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162E823-86B3-4C10-5B71-20C52D11B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009" y="3427214"/>
            <a:ext cx="4181061" cy="297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76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92AD1-C7ED-2769-A235-A43874675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5558C3-1B47-A06C-7FDF-F77AAA71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948"/>
            <a:ext cx="105156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Delivery Delays Drive Customer Dissatisfaction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CF6D67-930E-B341-67A9-3C678E8C2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3452"/>
            <a:ext cx="5015949" cy="3163818"/>
          </a:xfrm>
        </p:spPr>
        <p:txBody>
          <a:bodyPr>
            <a:noAutofit/>
          </a:bodyPr>
          <a:lstStyle/>
          <a:p>
            <a:r>
              <a:rPr lang="en-US" dirty="0"/>
              <a:t>Delivery delays significantly reduce review scores                 (p = 0.000)</a:t>
            </a:r>
          </a:p>
          <a:p>
            <a:endParaRPr lang="en-US" sz="800" dirty="0"/>
          </a:p>
          <a:p>
            <a:r>
              <a:rPr lang="en-US" dirty="0">
                <a:solidFill>
                  <a:srgbClr val="C00000"/>
                </a:solidFill>
              </a:rPr>
              <a:t>46% </a:t>
            </a:r>
            <a:r>
              <a:rPr lang="en-US" dirty="0"/>
              <a:t>of rating variability is explained by delays (R² = 0.465)</a:t>
            </a:r>
          </a:p>
          <a:p>
            <a:endParaRPr lang="en-US" sz="800" dirty="0"/>
          </a:p>
          <a:p>
            <a:r>
              <a:rPr lang="en-US" dirty="0"/>
              <a:t>The impact is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non-linear</a:t>
            </a:r>
            <a:r>
              <a:rPr lang="en-US" dirty="0"/>
              <a:t>: early delays have the strongest effect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296C634-BD41-C13D-E70C-A13BBBC06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2085693"/>
            <a:ext cx="5446643" cy="393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59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8B5A6-2C91-BC81-0E90-8E119E34C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F4E8B-54A7-272F-8575-826B592A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574" y="424118"/>
            <a:ext cx="105156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Market Penetration by State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770AA9-0BC6-0A04-AB84-2E8E193C4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9355"/>
            <a:ext cx="6109253" cy="2776192"/>
          </a:xfrm>
        </p:spPr>
        <p:txBody>
          <a:bodyPr>
            <a:normAutofit/>
          </a:bodyPr>
          <a:lstStyle/>
          <a:p>
            <a:r>
              <a:rPr lang="en-US" dirty="0"/>
              <a:t>Market penetration is the share of population with at least one order</a:t>
            </a:r>
          </a:p>
          <a:p>
            <a:endParaRPr lang="en-US" sz="800" dirty="0"/>
          </a:p>
          <a:p>
            <a:r>
              <a:rPr lang="en-US" dirty="0"/>
              <a:t>High-penetration states are concentrated in the South-East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72DB759-528D-1BDE-0DBF-191AE12BA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321" y="256732"/>
            <a:ext cx="3791479" cy="6344535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BE81399-DDE8-C7D1-1A27-B405E2D4036E}"/>
              </a:ext>
            </a:extLst>
          </p:cNvPr>
          <p:cNvSpPr/>
          <p:nvPr/>
        </p:nvSpPr>
        <p:spPr>
          <a:xfrm>
            <a:off x="2212257" y="4768645"/>
            <a:ext cx="3254477" cy="1376516"/>
          </a:xfrm>
          <a:prstGeom prst="roundRect">
            <a:avLst/>
          </a:prstGeom>
          <a:solidFill>
            <a:srgbClr val="FF0000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Marketplace activity is geographically concentrated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259515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59792-06E5-7EF5-2EFC-9097AD65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656495-AA25-0056-857B-6BC6BB7EB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16240"/>
            <a:ext cx="6290187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Drivers of Market Penetration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3BEA1B-6862-76E3-0F5A-22F2FD6CB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35586"/>
            <a:ext cx="6457123" cy="3799923"/>
          </a:xfrm>
        </p:spPr>
        <p:txBody>
          <a:bodyPr>
            <a:normAutofit/>
          </a:bodyPr>
          <a:lstStyle/>
          <a:p>
            <a:r>
              <a:rPr lang="en-US" dirty="0"/>
              <a:t>Strong positive correlation with purchasing power</a:t>
            </a:r>
          </a:p>
          <a:p>
            <a:r>
              <a:rPr lang="en-US" dirty="0"/>
              <a:t>Negative correlation with logistics cost (freight value)</a:t>
            </a:r>
          </a:p>
          <a:p>
            <a:r>
              <a:rPr lang="en-US" dirty="0">
                <a:solidFill>
                  <a:srgbClr val="C00000"/>
                </a:solidFill>
              </a:rPr>
              <a:t>High explanatory power </a:t>
            </a:r>
            <a:r>
              <a:rPr lang="en-US" dirty="0"/>
              <a:t>(R² ≈ 0.8, p &lt; 0.001)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F598E5-B106-3450-260F-2F6C73201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323" y="516240"/>
            <a:ext cx="4134678" cy="26833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477970-3690-4853-CC41-10884D428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322" y="3383136"/>
            <a:ext cx="4134679" cy="2695392"/>
          </a:xfrm>
          <a:prstGeom prst="rect">
            <a:avLst/>
          </a:prstGeom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08992FC1-F1D8-8FBA-C331-A9BCD3B01A48}"/>
              </a:ext>
            </a:extLst>
          </p:cNvPr>
          <p:cNvCxnSpPr/>
          <p:nvPr/>
        </p:nvCxnSpPr>
        <p:spPr>
          <a:xfrm flipH="1">
            <a:off x="7295322" y="3290867"/>
            <a:ext cx="44527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87D708A-9EDA-B4E9-D093-59BCB27ED03C}"/>
              </a:ext>
            </a:extLst>
          </p:cNvPr>
          <p:cNvSpPr/>
          <p:nvPr/>
        </p:nvSpPr>
        <p:spPr>
          <a:xfrm>
            <a:off x="1907459" y="5270090"/>
            <a:ext cx="3667112" cy="1137399"/>
          </a:xfrm>
          <a:prstGeom prst="roundRect">
            <a:avLst/>
          </a:prstGeom>
          <a:solidFill>
            <a:srgbClr val="FF0000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Income level and logistics efficiency are key drivers of regional penetration</a:t>
            </a:r>
            <a:endParaRPr lang="ru-RU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A20D46-CA61-F4B7-C7A2-24B0FFF8A967}"/>
              </a:ext>
            </a:extLst>
          </p:cNvPr>
          <p:cNvSpPr txBox="1"/>
          <p:nvPr/>
        </p:nvSpPr>
        <p:spPr>
          <a:xfrm>
            <a:off x="7204345" y="6290792"/>
            <a:ext cx="431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IBGE (Brazilian Institute of Geography and Statistics), 2018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426051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4CF1C-6615-B029-5CC2-AF6259806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2CB74D-BF49-B032-ABFA-E16428632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467"/>
            <a:ext cx="105156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Underpenetrated High-Potential Regions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6D904B-B224-01C7-FE39-A20CCABDA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7805"/>
            <a:ext cx="10157791" cy="2776192"/>
          </a:xfrm>
        </p:spPr>
        <p:txBody>
          <a:bodyPr/>
          <a:lstStyle/>
          <a:p>
            <a:r>
              <a:rPr lang="en-US" dirty="0"/>
              <a:t>Several states show lower-than-expected penetration given their income and logistics profile</a:t>
            </a:r>
          </a:p>
          <a:p>
            <a:r>
              <a:rPr lang="en-US" dirty="0"/>
              <a:t>These regions represent untapped growth potential</a:t>
            </a:r>
          </a:p>
          <a:p>
            <a:r>
              <a:rPr lang="en-US" dirty="0"/>
              <a:t>Notably, high-potential states cluster near the South-East hub (e.g., Mato Grosso, Mato Grosso do Sul, Paraná, Goiás)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8301FB0-7796-36AC-AD8A-4637D56DD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924" y="4325751"/>
            <a:ext cx="3598327" cy="233556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5BBD3E9-1BD5-1AA4-F876-5F7ED5723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976" y="4325751"/>
            <a:ext cx="3580619" cy="233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6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74C65-DFD2-BDBF-CA88-1981F3B3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240DE1-C7BA-84E0-6657-7FBDAF584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Black Friday Does Not Always Lower Prices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535468-6605-43E9-6A1B-CF2A52769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8242"/>
            <a:ext cx="5562601" cy="2776192"/>
          </a:xfrm>
        </p:spPr>
        <p:txBody>
          <a:bodyPr>
            <a:noAutofit/>
          </a:bodyPr>
          <a:lstStyle/>
          <a:p>
            <a:r>
              <a:rPr lang="en-US" sz="3200" dirty="0"/>
              <a:t>Average price in some categories increases by </a:t>
            </a:r>
            <a:r>
              <a:rPr lang="en-US" sz="3200" b="1" dirty="0">
                <a:solidFill>
                  <a:srgbClr val="C00000"/>
                </a:solidFill>
              </a:rPr>
              <a:t>30%</a:t>
            </a:r>
            <a:r>
              <a:rPr lang="en-US" sz="3200" dirty="0"/>
              <a:t>*</a:t>
            </a:r>
            <a:endParaRPr lang="en-US" sz="3200" b="1" dirty="0"/>
          </a:p>
          <a:p>
            <a:endParaRPr lang="en-US" sz="800" dirty="0"/>
          </a:p>
          <a:p>
            <a:r>
              <a:rPr lang="en-US" sz="3200" dirty="0"/>
              <a:t>It can be explained by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premiumization</a:t>
            </a:r>
            <a:r>
              <a:rPr lang="en-US" sz="3200" dirty="0"/>
              <a:t>: customers tend to buy more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expensive</a:t>
            </a:r>
            <a:r>
              <a:rPr lang="en-US" sz="3200" dirty="0"/>
              <a:t> products 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using the discounts</a:t>
            </a:r>
            <a:endParaRPr lang="ru-RU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0A147-ECC3-9D9C-1FA7-1EC2644130CB}"/>
              </a:ext>
            </a:extLst>
          </p:cNvPr>
          <p:cNvSpPr txBox="1"/>
          <p:nvPr/>
        </p:nvSpPr>
        <p:spPr>
          <a:xfrm>
            <a:off x="995680" y="6228080"/>
            <a:ext cx="5921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*Musical Instruments category has shown 82% price increase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307F79E-412C-6E3C-0130-FED2FA7B3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335" y="2332521"/>
            <a:ext cx="5410753" cy="316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800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AAF28-C6AE-7CD5-5ECD-46E2E9FC7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D9846E-C776-996C-C2CC-203AE88A0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Customer Satisfaction Drops During Black Friday</a:t>
            </a:r>
            <a:endParaRPr lang="ru-RU" sz="4000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6CFA8C-4FD5-FCCE-DFA5-D361501B5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64331"/>
            <a:ext cx="4353560" cy="366018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22</a:t>
            </a:r>
            <a:r>
              <a:rPr lang="en-US" sz="3200" dirty="0"/>
              <a:t> of </a:t>
            </a:r>
            <a:r>
              <a:rPr lang="en-US" sz="3200" dirty="0">
                <a:solidFill>
                  <a:schemeClr val="accent5">
                    <a:lumMod val="75000"/>
                  </a:schemeClr>
                </a:solidFill>
              </a:rPr>
              <a:t>TOP-25</a:t>
            </a:r>
            <a:r>
              <a:rPr lang="en-US" sz="3200" dirty="0"/>
              <a:t> categories show lower ratings</a:t>
            </a:r>
          </a:p>
          <a:p>
            <a:endParaRPr lang="en-US" sz="800" dirty="0"/>
          </a:p>
          <a:p>
            <a:r>
              <a:rPr lang="en-US" sz="3200" dirty="0"/>
              <a:t>Average rating decrease is </a:t>
            </a:r>
            <a:r>
              <a:rPr lang="en-US" sz="3200" dirty="0">
                <a:solidFill>
                  <a:srgbClr val="C00000"/>
                </a:solidFill>
              </a:rPr>
              <a:t>-0.45 </a:t>
            </a:r>
            <a:r>
              <a:rPr lang="en-US" sz="3200" dirty="0"/>
              <a:t>points (out of 5)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F0C5AF-D0FE-18F6-190B-1A5751B8F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560" y="2238190"/>
            <a:ext cx="6065520" cy="354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47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C064B-01A6-1F8E-6CA5-0525A2B48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EF4B5-6E76-3D32-971D-0268F73B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Black Friday: Drivers of Rating Decline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CE87E8-2B14-C81E-F93D-4550F7EFA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709453" cy="4667250"/>
          </a:xfrm>
        </p:spPr>
        <p:txBody>
          <a:bodyPr/>
          <a:lstStyle/>
          <a:p>
            <a:r>
              <a:rPr lang="en-US" dirty="0"/>
              <a:t>No significant relationship with order volume        (p = 0.34)</a:t>
            </a:r>
          </a:p>
          <a:p>
            <a:r>
              <a:rPr lang="en-US" dirty="0"/>
              <a:t>Strong correlation with delivery delays (p &lt; 0.001, R² = 0.27)</a:t>
            </a:r>
          </a:p>
          <a:p>
            <a:r>
              <a:rPr lang="en-US" dirty="0"/>
              <a:t>Each additional day of delay reduces rating by ~0.1 points</a:t>
            </a:r>
            <a:endParaRPr lang="ru-RU" dirty="0"/>
          </a:p>
        </p:txBody>
      </p:sp>
      <p:pic>
        <p:nvPicPr>
          <p:cNvPr id="2052" name="Picture 4" descr="How to prevent delays from China suppliers? - Justchinait">
            <a:extLst>
              <a:ext uri="{FF2B5EF4-FFF2-40B4-BE49-F238E27FC236}">
                <a16:creationId xmlns:a16="http://schemas.microsoft.com/office/drawing/2014/main" id="{9741A284-CB89-7CF1-AD62-59743D630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960" y="3197085"/>
            <a:ext cx="5496560" cy="3295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2B3830B-6C18-D93C-C578-3808EB8901CB}"/>
              </a:ext>
            </a:extLst>
          </p:cNvPr>
          <p:cNvSpPr/>
          <p:nvPr/>
        </p:nvSpPr>
        <p:spPr>
          <a:xfrm>
            <a:off x="2379405" y="4955458"/>
            <a:ext cx="3982065" cy="1150374"/>
          </a:xfrm>
          <a:prstGeom prst="roundRect">
            <a:avLst/>
          </a:prstGeom>
          <a:solidFill>
            <a:srgbClr val="FF0000"/>
          </a:solidFill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Logistics delays are a key contributor to rating decline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012699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A97EC-1030-38D2-BAB3-3D6B67616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5 key reasons why data analytics is important to business | Penn LPS Online">
            <a:extLst>
              <a:ext uri="{FF2B5EF4-FFF2-40B4-BE49-F238E27FC236}">
                <a16:creationId xmlns:a16="http://schemas.microsoft.com/office/drawing/2014/main" id="{C4A5AD21-FE81-55B0-FFF5-CDFAAB5C5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218533-AE21-8CA2-5405-6BBE2823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Secondary Insights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4738FE-6A18-8559-33ED-534EEA226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57791" cy="424087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C00000"/>
                </a:solidFill>
              </a:rPr>
              <a:t>Freight cost is driven more by product weight than distance </a:t>
            </a:r>
            <a:r>
              <a:rPr lang="en-US" dirty="0"/>
              <a:t>(R²: 0.37 vs 0.10)</a:t>
            </a:r>
          </a:p>
          <a:p>
            <a:r>
              <a:rPr lang="en-US" dirty="0"/>
              <a:t>Delivery delays within the same state are ~0.5 days less on average (p &lt; 0.001)</a:t>
            </a:r>
          </a:p>
          <a:p>
            <a:r>
              <a:rPr lang="en-US" dirty="0"/>
              <a:t>Higher-priced items are typically purchased individually rather than in larger baskets</a:t>
            </a:r>
          </a:p>
          <a:p>
            <a:r>
              <a:rPr lang="en-US" dirty="0">
                <a:solidFill>
                  <a:srgbClr val="C00000"/>
                </a:solidFill>
              </a:rPr>
              <a:t>Delivery delays have a stronger negative impact when shipping costs are high relative to product price </a:t>
            </a:r>
            <a:r>
              <a:rPr lang="en-US" dirty="0"/>
              <a:t>(p &lt; 0.001)</a:t>
            </a:r>
          </a:p>
          <a:p>
            <a:r>
              <a:rPr lang="en-US" dirty="0"/>
              <a:t>Order value increases with delivery cost, suggesting customers avoid high shipping fees for low-value purchases</a:t>
            </a:r>
          </a:p>
          <a:p>
            <a:r>
              <a:rPr lang="en-US" dirty="0"/>
              <a:t>Most sellers have extremely low sales volume (median ~1 order/month)</a:t>
            </a:r>
          </a:p>
        </p:txBody>
      </p:sp>
    </p:spTree>
    <p:extLst>
      <p:ext uri="{BB962C8B-B14F-4D97-AF65-F5344CB8AC3E}">
        <p14:creationId xmlns:p14="http://schemas.microsoft.com/office/powerpoint/2010/main" val="3556792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73174-5FA0-ED91-6A4D-1497F80B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5 key reasons why data analytics is important to business | Penn LPS Online">
            <a:extLst>
              <a:ext uri="{FF2B5EF4-FFF2-40B4-BE49-F238E27FC236}">
                <a16:creationId xmlns:a16="http://schemas.microsoft.com/office/drawing/2014/main" id="{35E929F8-D3B1-8A82-9F5D-F15C884C3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17DEA-DEF9-6B12-113E-E5CFBAC8A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Strategic Recommendations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C60B49-883C-26E3-18D6-D0D18C1DA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57791" cy="436869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1. Fix Logistics as the Core Pain Point</a:t>
            </a:r>
          </a:p>
          <a:p>
            <a:r>
              <a:rPr lang="en-US" dirty="0"/>
              <a:t>Reduce delivery delays and improve delivery time accuracy, especially during peak periods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2. Address the Retention Gap</a:t>
            </a:r>
          </a:p>
          <a:p>
            <a:r>
              <a:rPr lang="en-US" dirty="0"/>
              <a:t>Convert one-time buyers into repeat customers through post-purchase engagement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3. Reduce Seller Concentration Risk</a:t>
            </a:r>
          </a:p>
          <a:p>
            <a:r>
              <a:rPr lang="en-US" dirty="0"/>
              <a:t>Support mid-tier sellers and improve seller distribution across high-demand regions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4. Expand in High-Potential Regions</a:t>
            </a:r>
          </a:p>
          <a:p>
            <a:r>
              <a:rPr lang="en-US" dirty="0"/>
              <a:t>Focus growth efforts on underpenetrated states with strong income and manageable logistics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56438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4958</TotalTime>
  <Words>840</Words>
  <Application>Microsoft Office PowerPoint</Application>
  <PresentationFormat>Широкоэкранный</PresentationFormat>
  <Paragraphs>109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Тема Office</vt:lpstr>
      <vt:lpstr>Olist Marketplace Analysis: Revenue, Logistics &amp; Growth Drivers</vt:lpstr>
      <vt:lpstr>Dataset Snapshot</vt:lpstr>
      <vt:lpstr>Business Objective</vt:lpstr>
      <vt:lpstr>Tools &amp; Methodology</vt:lpstr>
      <vt:lpstr>Marketplace Overview</vt:lpstr>
      <vt:lpstr>Revenue by Categories</vt:lpstr>
      <vt:lpstr>Top 5 Sellers’ Revenue Share</vt:lpstr>
      <vt:lpstr>Customer Loyalty</vt:lpstr>
      <vt:lpstr>AOV by Payment Type</vt:lpstr>
      <vt:lpstr>Installments as a Growth Lever</vt:lpstr>
      <vt:lpstr>Delivery Delays Drive Customer Dissatisfaction</vt:lpstr>
      <vt:lpstr>Market Penetration by State</vt:lpstr>
      <vt:lpstr>Drivers of Market Penetration</vt:lpstr>
      <vt:lpstr>Underpenetrated High-Potential Regions</vt:lpstr>
      <vt:lpstr>Black Friday Does Not Always Lower Prices</vt:lpstr>
      <vt:lpstr>Customer Satisfaction Drops During Black Friday</vt:lpstr>
      <vt:lpstr>Black Friday: Drivers of Rating Decline</vt:lpstr>
      <vt:lpstr>Secondary Insights</vt:lpstr>
      <vt:lpstr>Strategic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Marat</dc:creator>
  <cp:lastModifiedBy>Marat</cp:lastModifiedBy>
  <cp:revision>49</cp:revision>
  <dcterms:created xsi:type="dcterms:W3CDTF">2026-04-19T12:55:58Z</dcterms:created>
  <dcterms:modified xsi:type="dcterms:W3CDTF">2026-04-23T13:09:04Z</dcterms:modified>
</cp:coreProperties>
</file>